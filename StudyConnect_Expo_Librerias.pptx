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Presenta StudyConnect como una plataforma para conectar estudiantes por cursos, horarios y grupos compatibles.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Explica que no solo se busca que se vea bonito, sino que la estructura permita crecer.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Si te preguntan si ya es backend real, responde que es prototipo frontend con persistencia temporal y schema SQL preparado.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Aclaración clave: index.html no se elimina; en Vite es la puerta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Si te preguntan por Tailwind/Axios/Router, di que están planificadas, pero no instaladas aún en el prototipo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Explica que los efectos se aplicaron en toda la web, especialmente cards, navegación, botones, hero y modales.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Las imágenes por curso ayudan a que el usuario identifique rápido el tipo de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Diferencia claramente entre lo que ya está instalado y lo que está planificado.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Este slide sirve para explicar por qué no todo debe estar en un solo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oral: Termina mostrando package.json y luego src/App.jsx para demostrar que ya se implementó en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ACADEMICA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713232"/>
            <a:ext cx="651967" cy="651967"/>
          </a:xfrm>
          <a:prstGeom prst="roundRect">
            <a:avLst>
              <a:gd name="adj" fmla="val 11220"/>
            </a:avLst>
          </a:prstGeom>
          <a:solidFill>
            <a:srgbClr val="5D6CFF"/>
          </a:solidFill>
          <a:ln w="12700">
            <a:solidFill>
              <a:srgbClr val="85F4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273" y="968350"/>
            <a:ext cx="340157" cy="226771"/>
          </a:xfrm>
          <a:prstGeom prst="arc">
            <a:avLst/>
          </a:prstGeom>
          <a:noFill/>
          <a:ln w="31496">
            <a:solidFill>
              <a:srgbClr val="F7FA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8446" y="883310"/>
            <a:ext cx="141732" cy="141732"/>
          </a:xfrm>
          <a:prstGeom prst="ellipse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5218" y="897484"/>
            <a:ext cx="127559" cy="127559"/>
          </a:xfrm>
          <a:prstGeom prst="ellipse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7659" y="1124255"/>
            <a:ext cx="113386" cy="113386"/>
          </a:xfrm>
          <a:prstGeom prst="ellipse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8046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StudyConnect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26464" y="11521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4D4"/>
                </a:solidFill>
              </a:rPr>
              <a:t>Grupos, matching y estudio colaborativo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58368" y="1920240"/>
            <a:ext cx="55778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</a:rPr>
              <a:t>Librerías usadas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</a:rPr>
              <a:t>y arquitectura del proyecto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4944" y="3337560"/>
            <a:ext cx="52578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Exposición rápida del prototipo React + Vite y del stack que se conectará en backend.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40416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35D3C5">
              <a:alpha val="22000"/>
            </a:srgbClr>
          </a:solidFill>
          <a:ln w="12700">
            <a:solidFill>
              <a:srgbClr val="35D3C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11480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5D3C5"/>
                </a:solidFill>
              </a:rPr>
              <a:t>React 18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1810512" y="4041648"/>
            <a:ext cx="713232" cy="310896"/>
          </a:xfrm>
          <a:prstGeom prst="roundRect">
            <a:avLst>
              <a:gd name="adj" fmla="val 17647"/>
            </a:avLst>
          </a:prstGeom>
          <a:solidFill>
            <a:srgbClr val="5D6CFF">
              <a:alpha val="22000"/>
            </a:srgbClr>
          </a:solidFill>
          <a:ln w="12700">
            <a:solidFill>
              <a:srgbClr val="5D6CFF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01952" y="411480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D6CFF"/>
                </a:solidFill>
              </a:rPr>
              <a:t>Vite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651760" y="404164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38E19A">
              <a:alpha val="22000"/>
            </a:srgbClr>
          </a:solidFill>
          <a:ln w="12700">
            <a:solidFill>
              <a:srgbClr val="38E19A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411480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8E19A"/>
                </a:solidFill>
              </a:rPr>
              <a:t>CSS3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520440" y="404164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7C948">
              <a:alpha val="22000"/>
            </a:srgbClr>
          </a:solidFill>
          <a:ln w="12700">
            <a:solidFill>
              <a:srgbClr val="F7C948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41148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C948"/>
                </a:solidFill>
              </a:rPr>
              <a:t>Roadmap Backend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492240" y="960120"/>
            <a:ext cx="4892040" cy="5074920"/>
          </a:xfrm>
          <a:prstGeom prst="roundRect">
            <a:avLst>
              <a:gd name="adj" fmla="val 1121"/>
            </a:avLst>
          </a:prstGeom>
          <a:solidFill>
            <a:srgbClr val="0B1224"/>
          </a:solidFill>
          <a:ln w="12700">
            <a:solidFill>
              <a:srgbClr val="2B3B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960120"/>
            <a:ext cx="4892040" cy="347472"/>
          </a:xfrm>
          <a:prstGeom prst="rect">
            <a:avLst/>
          </a:prstGeom>
          <a:solidFill>
            <a:srgbClr val="111B31"/>
          </a:solidFill>
          <a:ln w="12700">
            <a:solidFill>
              <a:srgbClr val="111B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56832" y="1078992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21424" y="1078992"/>
            <a:ext cx="73152" cy="73152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86016" y="1078992"/>
            <a:ext cx="73152" cy="73152"/>
          </a:xfrm>
          <a:prstGeom prst="ellipse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106984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92"/>
                </a:solidFill>
              </a:rPr>
              <a:t>localhost:5173</a:t>
            </a:r>
            <a:endParaRPr lang="en-US" sz="680" dirty="0"/>
          </a:p>
        </p:txBody>
      </p:sp>
      <p:pic>
        <p:nvPicPr>
          <p:cNvPr id="30" name="Image 0" descr="C:/Users/Keenscy/OneDrive/Documentos/CICLO 6/Integrador/Studyconnect/public/assets/study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1581912"/>
            <a:ext cx="4379976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Y OBJETIVO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resuelve StudyConnect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El prototipo nace de un problema concreto dentro de la universidad.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240280"/>
            <a:ext cx="45720" cy="2148840"/>
          </a:xfrm>
          <a:prstGeom prst="rect">
            <a:avLst/>
          </a:prstGeom>
          <a:solidFill>
            <a:srgbClr val="FF6B9A"/>
          </a:solidFill>
          <a:ln w="12700">
            <a:solidFill>
              <a:srgbClr val="FF6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404872"/>
            <a:ext cx="30449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Problema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86968" y="2743200"/>
            <a:ext cx="3044952" cy="1527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A muchos estudiantes les cuesta encontrar compañeros que lleven los mismos cursos y tengan horarios compatibles.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2240280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240280"/>
            <a:ext cx="45720" cy="2148840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404872"/>
            <a:ext cx="30449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Solución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36008" y="2743200"/>
            <a:ext cx="3044952" cy="1527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La app sugiere grupos de estudio, muestra compatibilidad y centraliza la comunicación.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2240280"/>
            <a:ext cx="3154680" cy="2148840"/>
          </a:xfrm>
          <a:prstGeom prst="roundRect">
            <a:avLst>
              <a:gd name="adj" fmla="val 2128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2240280"/>
            <a:ext cx="45720" cy="2148840"/>
          </a:xfrm>
          <a:prstGeom prst="rect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2404872"/>
            <a:ext cx="277063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Valor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385048" y="2743200"/>
            <a:ext cx="2770632" cy="1527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Menos búsqueda manual, más coordinación y mejor trabajo colaborativo.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10652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Idea principal: pasar de un HTML estático a una SPA profesional con componentes, estado y arquitectura preparada para backend.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ACTUAL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ya funciona en el prototipo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Esto es lo que hoy se puede mostrar directamente desde VS Code y el navegador.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0B1224"/>
          </a:solidFill>
          <a:ln w="12700">
            <a:solidFill>
              <a:srgbClr val="2B3B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5212080" cy="347472"/>
          </a:xfrm>
          <a:prstGeom prst="rect">
            <a:avLst/>
          </a:prstGeom>
          <a:solidFill>
            <a:srgbClr val="111B31"/>
          </a:solidFill>
          <a:ln w="12700">
            <a:solidFill>
              <a:srgbClr val="111B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084832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2084832"/>
            <a:ext cx="73152" cy="73152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576" y="2084832"/>
            <a:ext cx="73152" cy="73152"/>
          </a:xfrm>
          <a:prstGeom prst="ellipse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207568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92"/>
                </a:solidFill>
              </a:rPr>
              <a:t>localhost:5173</a:t>
            </a:r>
            <a:endParaRPr lang="en-US" sz="680" dirty="0"/>
          </a:p>
        </p:txBody>
      </p:sp>
      <p:pic>
        <p:nvPicPr>
          <p:cNvPr id="15" name="Image 0" descr="C:/Users/Keenscy/OneDrive/Documentos/CICLO 6/Integrador/Studyconnect/public/assets/study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87752"/>
            <a:ext cx="4700016" cy="29443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492240" y="2157984"/>
            <a:ext cx="91440" cy="91440"/>
          </a:xfrm>
          <a:prstGeom prst="ellipse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210312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Login y registro demo en un solo modal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492240" y="2660904"/>
            <a:ext cx="91440" cy="91440"/>
          </a:xfrm>
          <a:prstGeom prst="ellipse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260604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Dashboard con estadísticas, actividad y recomendaciones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492240" y="3163824"/>
            <a:ext cx="91440" cy="91440"/>
          </a:xfrm>
          <a:prstGeom prst="ellipse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310896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Grupos de cursos con imágenes relacionadas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492240" y="3666744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361188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Datos de prueba para matching y sugerencias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6492240" y="4169664"/>
            <a:ext cx="91440" cy="91440"/>
          </a:xfrm>
          <a:prstGeom prst="ellipse">
            <a:avLst/>
          </a:prstGeom>
          <a:solidFill>
            <a:srgbClr val="FF6B9A"/>
          </a:solidFill>
          <a:ln w="12700">
            <a:solidFill>
              <a:srgbClr val="FF6B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411480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Diseño responsive con menú hamburguesa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492240" y="4672584"/>
            <a:ext cx="91440" cy="91440"/>
          </a:xfrm>
          <a:prstGeom prst="ellipse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Efectos CSS: hover, transiciones y animaciones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que puedes enseñar en VS Code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La estructura ya separa entrada, componentes, estilos, assets y modelo de datos.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2743200" cy="329184"/>
          </a:xfrm>
          <a:prstGeom prst="roundRect">
            <a:avLst>
              <a:gd name="adj" fmla="val 8333"/>
            </a:avLst>
          </a:prstGeom>
          <a:solidFill>
            <a:srgbClr val="16213B"/>
          </a:solidFill>
          <a:ln w="12700">
            <a:solidFill>
              <a:srgbClr val="26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4825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3C5"/>
                </a:solidFill>
              </a:rPr>
              <a:t>package.json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3794760" y="20391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F"/>
                </a:solidFill>
              </a:rPr>
              <a:t>Lista de librerías y scripts del proyecto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468880"/>
            <a:ext cx="2743200" cy="329184"/>
          </a:xfrm>
          <a:prstGeom prst="roundRect">
            <a:avLst>
              <a:gd name="adj" fmla="val 8333"/>
            </a:avLst>
          </a:prstGeom>
          <a:solidFill>
            <a:srgbClr val="16213B"/>
          </a:solidFill>
          <a:ln w="12700">
            <a:solidFill>
              <a:srgbClr val="26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551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3C5"/>
                </a:solidFill>
              </a:rPr>
              <a:t>index.html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3794760" y="254203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F"/>
                </a:solidFill>
              </a:rPr>
              <a:t>Entrada requerida por Vite, contiene el div #root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971800"/>
            <a:ext cx="2743200" cy="329184"/>
          </a:xfrm>
          <a:prstGeom prst="roundRect">
            <a:avLst>
              <a:gd name="adj" fmla="val 8333"/>
            </a:avLst>
          </a:prstGeom>
          <a:solidFill>
            <a:srgbClr val="16213B"/>
          </a:solidFill>
          <a:ln w="12700">
            <a:solidFill>
              <a:srgbClr val="263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05409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3C5"/>
                </a:solidFill>
              </a:rPr>
              <a:t>src/main.jsx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794760" y="3044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F"/>
                </a:solidFill>
              </a:rPr>
              <a:t>Monta React dentro del navegador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474720"/>
            <a:ext cx="2743200" cy="329184"/>
          </a:xfrm>
          <a:prstGeom prst="roundRect">
            <a:avLst>
              <a:gd name="adj" fmla="val 8333"/>
            </a:avLst>
          </a:prstGeom>
          <a:solidFill>
            <a:srgbClr val="16213B"/>
          </a:solidFill>
          <a:ln w="12700">
            <a:solidFill>
              <a:srgbClr val="26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55701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3C5"/>
                </a:solidFill>
              </a:rPr>
              <a:t>src/App.jsx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3794760" y="354787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F"/>
                </a:solidFill>
              </a:rPr>
              <a:t>Componentes, estado y pantallas principales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977640"/>
            <a:ext cx="2743200" cy="329184"/>
          </a:xfrm>
          <a:prstGeom prst="roundRect">
            <a:avLst>
              <a:gd name="adj" fmla="val 8333"/>
            </a:avLst>
          </a:prstGeom>
          <a:solidFill>
            <a:srgbClr val="16213B"/>
          </a:solidFill>
          <a:ln w="12700">
            <a:solidFill>
              <a:srgbClr val="2636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05993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3C5"/>
                </a:solidFill>
              </a:rPr>
              <a:t>src/styles.css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794760" y="405079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F"/>
                </a:solidFill>
              </a:rPr>
              <a:t>Responsive, diseño visual y animaciones CSS3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480560"/>
            <a:ext cx="2743200" cy="329184"/>
          </a:xfrm>
          <a:prstGeom prst="roundRect">
            <a:avLst>
              <a:gd name="adj" fmla="val 8333"/>
            </a:avLst>
          </a:prstGeom>
          <a:solidFill>
            <a:srgbClr val="16213B"/>
          </a:solidFill>
          <a:ln w="12700">
            <a:solidFill>
              <a:srgbClr val="263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56285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3C5"/>
                </a:solidFill>
              </a:rPr>
              <a:t>public/assets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3794760" y="45537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F"/>
                </a:solidFill>
              </a:rPr>
              <a:t>Imágenes y recursos visuales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4983480"/>
            <a:ext cx="2743200" cy="329184"/>
          </a:xfrm>
          <a:prstGeom prst="roundRect">
            <a:avLst>
              <a:gd name="adj" fmla="val 8333"/>
            </a:avLst>
          </a:prstGeom>
          <a:solidFill>
            <a:srgbClr val="16213B"/>
          </a:solidFill>
          <a:ln w="12700">
            <a:solidFill>
              <a:srgbClr val="2636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0657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3C5"/>
                </a:solidFill>
              </a:rPr>
              <a:t>schema.sql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3794760" y="505663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F"/>
                </a:solidFill>
              </a:rPr>
              <a:t>Modelo relacional futuro para PostgreSQL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11880" y="1874520"/>
            <a:ext cx="0" cy="3566160"/>
          </a:xfrm>
          <a:prstGeom prst="line">
            <a:avLst/>
          </a:prstGeom>
          <a:noFill/>
          <a:ln w="12700">
            <a:solidFill>
              <a:srgbClr val="26365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LIBRERIAS ACTUALES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Librerías que usamos actualmente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Estas son las dependencias reales que aparecen en package.json hoy.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4800600" cy="1143000"/>
          </a:xfrm>
          <a:prstGeom prst="roundRect">
            <a:avLst>
              <a:gd name="adj" fmla="val 400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11680"/>
            <a:ext cx="45720" cy="1143000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176272"/>
            <a:ext cx="4416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React 18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78408" y="2514600"/>
            <a:ext cx="4416552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Biblioteca principal para crear la interfaz con componentes reutilizables.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4800600" cy="1143000"/>
          </a:xfrm>
          <a:prstGeom prst="roundRect">
            <a:avLst>
              <a:gd name="adj" fmla="val 400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011680"/>
            <a:ext cx="45720" cy="114300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176272"/>
            <a:ext cx="4416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React DOM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419088" y="2514600"/>
            <a:ext cx="4416552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Conecta los componentes React con el DOM real del navegador.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611880"/>
            <a:ext cx="4800600" cy="1143000"/>
          </a:xfrm>
          <a:prstGeom prst="roundRect">
            <a:avLst>
              <a:gd name="adj" fmla="val 400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611880"/>
            <a:ext cx="45720" cy="1143000"/>
          </a:xfrm>
          <a:prstGeom prst="rect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776472"/>
            <a:ext cx="4416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Vite 5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78408" y="4114800"/>
            <a:ext cx="4416552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Servidor de desarrollo y build tool rápido para trabajar con HMR.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3611880"/>
            <a:ext cx="4800600" cy="1143000"/>
          </a:xfrm>
          <a:prstGeom prst="roundRect">
            <a:avLst>
              <a:gd name="adj" fmla="val 400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611880"/>
            <a:ext cx="45720" cy="114300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776472"/>
            <a:ext cx="4416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@vitejs/plugin-react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419088" y="4114800"/>
            <a:ext cx="4416552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Permite que Vite procese JSX y la experiencia de React correctamente.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5303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5D3C5"/>
                </a:solidFill>
              </a:rPr>
              <a:t>Mensaje para la exposición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2834640" y="5239512"/>
            <a:ext cx="7863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7FAFF"/>
                </a:solidFill>
              </a:rPr>
              <a:t>No estamos usando librerías de adorno: React organiza la UI, Vite acelera el desarrollo y el plugin permite escribir JSX de forma moderna.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Efectos CSS aplicados al proyecto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Tomamos el tema del laboratorio y lo llevamos a la web actual.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337560" cy="1325880"/>
          </a:xfrm>
          <a:prstGeom prst="roundRect">
            <a:avLst>
              <a:gd name="adj" fmla="val 3448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45720" cy="1325880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21992"/>
            <a:ext cx="29535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Hover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32688" y="2560320"/>
            <a:ext cx="2953512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Cards, botones y opciones del menú reaccionan al pasar el mouse.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2057400"/>
            <a:ext cx="3337560" cy="1325880"/>
          </a:xfrm>
          <a:prstGeom prst="roundRect">
            <a:avLst>
              <a:gd name="adj" fmla="val 3448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057400"/>
            <a:ext cx="45720" cy="132588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221992"/>
            <a:ext cx="29535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Transiciones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36008" y="2560320"/>
            <a:ext cx="2953512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Los cambios de sombra, color y movimiento son suaves.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057400"/>
            <a:ext cx="3337560" cy="1325880"/>
          </a:xfrm>
          <a:prstGeom prst="roundRect">
            <a:avLst>
              <a:gd name="adj" fmla="val 3448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057400"/>
            <a:ext cx="45720" cy="1325880"/>
          </a:xfrm>
          <a:prstGeom prst="rect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2221992"/>
            <a:ext cx="29535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Transformaciones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339328" y="2560320"/>
            <a:ext cx="2953512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Se usan scale(), translateY() y rotaciones ligeras en tarjetas.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3886200"/>
            <a:ext cx="3657600" cy="1325880"/>
          </a:xfrm>
          <a:prstGeom prst="roundRect">
            <a:avLst>
              <a:gd name="adj" fmla="val 3448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3886200"/>
            <a:ext cx="45720" cy="132588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29968" y="4050792"/>
            <a:ext cx="3273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@keyframes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2029968" y="4389120"/>
            <a:ext cx="3273552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Animaciones automáticas para dar vida al hero, logo y elementos visuales.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886200"/>
            <a:ext cx="3657600" cy="1325880"/>
          </a:xfrm>
          <a:prstGeom prst="roundRect">
            <a:avLst>
              <a:gd name="adj" fmla="val 3448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886200"/>
            <a:ext cx="45720" cy="1325880"/>
          </a:xfrm>
          <a:prstGeom prst="rect">
            <a:avLst/>
          </a:prstGeom>
          <a:solidFill>
            <a:srgbClr val="FF6B9A"/>
          </a:solidFill>
          <a:ln w="12700">
            <a:solidFill>
              <a:srgbClr val="FF6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4050792"/>
            <a:ext cx="3273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Responsive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601968" y="4389120"/>
            <a:ext cx="3273552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Media queries y layout flexible para PC y móvil con hamburguesa.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MATCHING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de prueba para algoritmo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El prototipo ya tiene grupos suficientes para probar sugerencias y compatibilidad.</a:t>
            </a:r>
            <a:endParaRPr lang="en-US" sz="1250" dirty="0"/>
          </a:p>
        </p:txBody>
      </p:sp>
      <p:pic>
        <p:nvPicPr>
          <p:cNvPr id="9" name="Image 0" descr="C:/Users/Keenscy/OneDrive/Documentos/CICLO 6/Integrador/Studyconnect/public/assets/course-calculo-i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2514600" cy="1417320"/>
          </a:xfrm>
          <a:prstGeom prst="rect">
            <a:avLst/>
          </a:prstGeom>
        </p:spPr>
      </p:pic>
      <p:pic>
        <p:nvPicPr>
          <p:cNvPr id="10" name="Image 1" descr="C:/Users/Keenscy/OneDrive/Documentos/CICLO 6/Integrador/Studyconnect/public/assets/course-base-da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057400"/>
            <a:ext cx="2514600" cy="1417320"/>
          </a:xfrm>
          <a:prstGeom prst="rect">
            <a:avLst/>
          </a:prstGeom>
        </p:spPr>
      </p:pic>
      <p:pic>
        <p:nvPicPr>
          <p:cNvPr id="11" name="Image 2" descr="C:/Users/Keenscy/OneDrive/Documentos/CICLO 6/Integrador/Studyconnect/public/assets/course-red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057400"/>
            <a:ext cx="2514600" cy="1417320"/>
          </a:xfrm>
          <a:prstGeom prst="rect">
            <a:avLst/>
          </a:prstGeom>
        </p:spPr>
      </p:pic>
      <p:pic>
        <p:nvPicPr>
          <p:cNvPr id="12" name="Image 3" descr="C:/Users/Keenscy/OneDrive/Documentos/CICLO 6/Integrador/Studyconnect/public/assets/course-programac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057400"/>
            <a:ext cx="2011680" cy="14173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77240" y="388620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77240" y="3886200"/>
            <a:ext cx="45720" cy="1234440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978408" y="4050792"/>
            <a:ext cx="29535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Grupos semilla</a:t>
            </a:r>
            <a:endParaRPr lang="en-US" sz="1320" dirty="0"/>
          </a:p>
        </p:txBody>
      </p:sp>
      <p:sp>
        <p:nvSpPr>
          <p:cNvPr id="16" name="Text 10"/>
          <p:cNvSpPr/>
          <p:nvPr/>
        </p:nvSpPr>
        <p:spPr>
          <a:xfrm>
            <a:off x="978408" y="4389120"/>
            <a:ext cx="295351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Cursos como Cálculo II, Base de Datos, Redes, Programación y más.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434840" y="388620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434840" y="3886200"/>
            <a:ext cx="45720" cy="1234440"/>
          </a:xfrm>
          <a:prstGeom prst="rect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636008" y="4050792"/>
            <a:ext cx="29535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Compatibilidad</a:t>
            </a:r>
            <a:endParaRPr lang="en-US" sz="1320" dirty="0"/>
          </a:p>
        </p:txBody>
      </p:sp>
      <p:sp>
        <p:nvSpPr>
          <p:cNvPr id="20" name="Text 14"/>
          <p:cNvSpPr/>
          <p:nvPr/>
        </p:nvSpPr>
        <p:spPr>
          <a:xfrm>
            <a:off x="4636008" y="4389120"/>
            <a:ext cx="295351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Se calcula por curso, ciclo, modalidad, disponibilidad y cupos.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8092440" y="388620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092440" y="3886200"/>
            <a:ext cx="45720" cy="123444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93608" y="4050792"/>
            <a:ext cx="29535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Persistencia demo</a:t>
            </a:r>
            <a:endParaRPr lang="en-US" sz="1320" dirty="0"/>
          </a:p>
        </p:txBody>
      </p:sp>
      <p:sp>
        <p:nvSpPr>
          <p:cNvPr id="24" name="Text 18"/>
          <p:cNvSpPr/>
          <p:nvPr/>
        </p:nvSpPr>
        <p:spPr>
          <a:xfrm>
            <a:off x="8293608" y="4389120"/>
            <a:ext cx="295351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LocalStorage conserva sesión y estado mientras no haya backend real.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BACKEND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Librerías que planeamos usar después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Estas completan la arquitectura cliente-servidor descrita en el documento.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892040" cy="713232"/>
          </a:xfrm>
          <a:prstGeom prst="roundRect">
            <a:avLst>
              <a:gd name="adj" fmla="val 641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74520"/>
            <a:ext cx="45720" cy="71323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39112"/>
            <a:ext cx="450799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Express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024128" y="2377440"/>
            <a:ext cx="4507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API REST para usuarios, grupos y solicitudes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1874520"/>
            <a:ext cx="4892040" cy="713232"/>
          </a:xfrm>
          <a:prstGeom prst="roundRect">
            <a:avLst>
              <a:gd name="adj" fmla="val 641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874520"/>
            <a:ext cx="45720" cy="713232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2039112"/>
            <a:ext cx="450799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pg + PostgreSQL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10528" y="2377440"/>
            <a:ext cx="4507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Base de datos relacional con consultas seguras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2834640"/>
            <a:ext cx="4892040" cy="713232"/>
          </a:xfrm>
          <a:prstGeom prst="roundRect">
            <a:avLst>
              <a:gd name="adj" fmla="val 641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834640"/>
            <a:ext cx="45720" cy="713232"/>
          </a:xfrm>
          <a:prstGeom prst="rect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999232"/>
            <a:ext cx="450799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bcryptjs + JWT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024128" y="3337560"/>
            <a:ext cx="4507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Contraseñas hasheadas y sesiones con token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4892040" cy="713232"/>
          </a:xfrm>
          <a:prstGeom prst="roundRect">
            <a:avLst>
              <a:gd name="adj" fmla="val 641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834640"/>
            <a:ext cx="45720" cy="71323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2999232"/>
            <a:ext cx="450799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Socket.io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510528" y="3337560"/>
            <a:ext cx="4507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Chat y notificaciones en tiempo real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3794760"/>
            <a:ext cx="4892040" cy="713232"/>
          </a:xfrm>
          <a:prstGeom prst="roundRect">
            <a:avLst>
              <a:gd name="adj" fmla="val 641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794760"/>
            <a:ext cx="45720" cy="713232"/>
          </a:xfrm>
          <a:prstGeom prst="rect">
            <a:avLst/>
          </a:prstGeom>
          <a:solidFill>
            <a:srgbClr val="FF6B9A"/>
          </a:solidFill>
          <a:ln w="12700">
            <a:solidFill>
              <a:srgbClr val="FF6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959352"/>
            <a:ext cx="450799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Axios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24128" y="4297680"/>
            <a:ext cx="4507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Cliente HTTP con interceptores para token y errores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3794760"/>
            <a:ext cx="4892040" cy="713232"/>
          </a:xfrm>
          <a:prstGeom prst="roundRect">
            <a:avLst>
              <a:gd name="adj" fmla="val 6410"/>
            </a:avLst>
          </a:prstGeom>
          <a:solidFill>
            <a:srgbClr val="101827"/>
          </a:solidFill>
          <a:ln w="12700">
            <a:solidFill>
              <a:srgbClr val="263657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794760"/>
            <a:ext cx="45720" cy="713232"/>
          </a:xfrm>
          <a:prstGeom prst="rect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3959352"/>
            <a:ext cx="450799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F"/>
                </a:solidFill>
              </a:rPr>
              <a:t>React Router DOM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6510528" y="4297680"/>
            <a:ext cx="4507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D4"/>
                </a:solidFill>
              </a:rPr>
              <a:t>Rutas reales para login, grupos, chat y perfil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53492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3C5"/>
                </a:solidFill>
              </a:rPr>
              <a:t>Idea para decir: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40280" y="5285232"/>
            <a:ext cx="80924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AFF"/>
                </a:solidFill>
              </a:rPr>
              <a:t>Hoy mostramos el frontend funcionando. La siguiente etapa es conectar la API, la base de datos y el tiempo real.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futura del sistema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D4"/>
                </a:solidFill>
              </a:rPr>
              <a:t>La separación por capas permite mantener y escalar el proyecto.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16213B"/>
          </a:solidFill>
          <a:ln w="15240">
            <a:solidFill>
              <a:srgbClr val="35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468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D3C5"/>
                </a:solidFill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7FAFF"/>
                </a:solidFill>
              </a:rPr>
              <a:t>React + Vite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FAFF"/>
                </a:solidFill>
              </a:rPr>
              <a:t>CSS3 + Router + Axios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86200" y="22402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16213B"/>
          </a:solidFill>
          <a:ln w="15240">
            <a:solidFill>
              <a:srgbClr val="5D6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41648" y="2468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CFF"/>
                </a:solidFill>
              </a:rPr>
              <a:t>API REST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32504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7FAFF"/>
                </a:solidFill>
              </a:rPr>
              <a:t>Node.js + Express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FAFF"/>
                </a:solidFill>
              </a:rPr>
              <a:t>validación + JWT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49440" y="22402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16213B"/>
          </a:solidFill>
          <a:ln w="15240">
            <a:solidFill>
              <a:srgbClr val="38E1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4888" y="2468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E19A"/>
                </a:solidFill>
              </a:rPr>
              <a:t>Tiempo real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95744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7FAFF"/>
                </a:solidFill>
              </a:rPr>
              <a:t>Socket.io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FAFF"/>
                </a:solidFill>
              </a:rPr>
              <a:t>salas de chat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738360" y="22402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16213B"/>
          </a:solidFill>
          <a:ln w="15240">
            <a:solidFill>
              <a:srgbClr val="F7C9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93808" y="2468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C948"/>
                </a:solidFill>
              </a:rPr>
              <a:t>Datos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84664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7FAFF"/>
                </a:solidFill>
              </a:rPr>
              <a:t>PostgreSQL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FAFF"/>
                </a:solidFill>
              </a:rPr>
              <a:t>Redis para cache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0" y="2907792"/>
            <a:ext cx="960120" cy="0"/>
          </a:xfrm>
          <a:prstGeom prst="line">
            <a:avLst/>
          </a:prstGeom>
          <a:noFill/>
          <a:ln w="25400">
            <a:solidFill>
              <a:srgbClr val="26365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06440" y="2907792"/>
            <a:ext cx="960120" cy="0"/>
          </a:xfrm>
          <a:prstGeom prst="line">
            <a:avLst/>
          </a:prstGeom>
          <a:noFill/>
          <a:ln w="25400">
            <a:solidFill>
              <a:srgbClr val="26365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23960" y="2907792"/>
            <a:ext cx="822960" cy="0"/>
          </a:xfrm>
          <a:prstGeom prst="line">
            <a:avLst/>
          </a:prstGeom>
          <a:noFill/>
          <a:ln w="25400">
            <a:solidFill>
              <a:srgbClr val="26365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143000" y="4764024"/>
            <a:ext cx="91440" cy="91440"/>
          </a:xfrm>
          <a:prstGeom prst="ellipse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70916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React se queda enfocado en interfaz y experiencia de usuario.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1143000" y="5221224"/>
            <a:ext cx="91440" cy="91440"/>
          </a:xfrm>
          <a:prstGeom prst="ellipse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516636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Express centraliza reglas de negocio, seguridad y endpoints.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72200" y="4764024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70916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PostgreSQL guarda datos persistentes con relaciones.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172200" y="5221224"/>
            <a:ext cx="91440" cy="91440"/>
          </a:xfrm>
          <a:prstGeom prst="ellipse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516636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Socket.io y Redis aceleran chat, presencia y notificaciones.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D"/>
          </a:solidFill>
          <a:ln w="12700">
            <a:solidFill>
              <a:srgbClr val="080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45720"/>
          </a:xfrm>
          <a:prstGeom prst="rect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274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092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786384"/>
            <a:ext cx="567842" cy="567842"/>
          </a:xfrm>
          <a:prstGeom prst="roundRect">
            <a:avLst>
              <a:gd name="adj" fmla="val 12882"/>
            </a:avLst>
          </a:prstGeom>
          <a:solidFill>
            <a:srgbClr val="5D6CFF"/>
          </a:solidFill>
          <a:ln w="12700">
            <a:solidFill>
              <a:srgbClr val="85F4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4156" y="1008583"/>
            <a:ext cx="296266" cy="197510"/>
          </a:xfrm>
          <a:prstGeom prst="arc">
            <a:avLst/>
          </a:prstGeom>
          <a:noFill/>
          <a:ln w="27432">
            <a:solidFill>
              <a:srgbClr val="F7FA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6501" y="934517"/>
            <a:ext cx="123444" cy="123444"/>
          </a:xfrm>
          <a:prstGeom prst="ellipse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4011" y="946861"/>
            <a:ext cx="111100" cy="111100"/>
          </a:xfrm>
          <a:prstGeom prst="ellipse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2912" y="1144372"/>
            <a:ext cx="98755" cy="98755"/>
          </a:xfrm>
          <a:prstGeom prst="ellipse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Cierre de la exposición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1828800"/>
            <a:ext cx="67665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F"/>
                </a:solidFill>
              </a:rPr>
              <a:t>StudyConnect ya no es un HTML aislado: ahora tiene base de aplicación moderna.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14400" y="3026664"/>
            <a:ext cx="91440" cy="91440"/>
          </a:xfrm>
          <a:prstGeom prst="ellipse">
            <a:avLst/>
          </a:prstGeom>
          <a:solidFill>
            <a:srgbClr val="35D3C5"/>
          </a:solidFill>
          <a:ln w="12700">
            <a:solidFill>
              <a:srgbClr val="35D3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Frontend modular con React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14400" y="3529584"/>
            <a:ext cx="91440" cy="91440"/>
          </a:xfrm>
          <a:prstGeom prst="ellipse">
            <a:avLst/>
          </a:prstGeom>
          <a:solidFill>
            <a:srgbClr val="5D6CFF"/>
          </a:solidFill>
          <a:ln w="12700">
            <a:solidFill>
              <a:srgbClr val="5D6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Desarrollo ágil con Vite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4400" y="4032504"/>
            <a:ext cx="91440" cy="91440"/>
          </a:xfrm>
          <a:prstGeom prst="ellipse">
            <a:avLst/>
          </a:prstGeom>
          <a:solidFill>
            <a:srgbClr val="38E19A"/>
          </a:solidFill>
          <a:ln w="12700">
            <a:solidFill>
              <a:srgbClr val="38E1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CSS3 aplicado con hover, transiciones y animaciones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14400" y="4535424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48056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Modelo de datos preparado para PostgreSQL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14400" y="5038344"/>
            <a:ext cx="91440" cy="91440"/>
          </a:xfrm>
          <a:prstGeom prst="ellipse">
            <a:avLst/>
          </a:prstGeom>
          <a:solidFill>
            <a:srgbClr val="FF6B9A"/>
          </a:solidFill>
          <a:ln w="12700">
            <a:solidFill>
              <a:srgbClr val="FF6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983480"/>
            <a:ext cx="4114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AFF"/>
                </a:solidFill>
              </a:rPr>
              <a:t>Roadmap claro hacia backend, chat y autenticación real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46720" y="178308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16213B"/>
          </a:solidFill>
          <a:ln w="12700">
            <a:solidFill>
              <a:srgbClr val="263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148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3C5"/>
                </a:solidFill>
              </a:rPr>
              <a:t>Frase final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21040" y="2606040"/>
            <a:ext cx="2606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Elegimos librerías maduras y simples de explicar porque el objetivo es aprender, mantener y escalar el proyecto sin hacerlo innecesariamente complejo.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4434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8E19A"/>
                </a:solidFill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StudyConnect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StudyConnect - Librerias y arquitectura</dc:title>
  <dc:subject>Exposicion de librerias y arquitectura</dc:subject>
  <dc:creator>StudyConnect</dc:creator>
  <cp:lastModifiedBy>StudyConnect</cp:lastModifiedBy>
  <cp:revision>1</cp:revision>
  <dcterms:created xsi:type="dcterms:W3CDTF">2026-05-29T01:48:32Z</dcterms:created>
  <dcterms:modified xsi:type="dcterms:W3CDTF">2026-05-29T01:48:32Z</dcterms:modified>
</cp:coreProperties>
</file>